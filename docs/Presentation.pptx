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examiners. Today we present our end-to-end explainable ML AML pipeline connecting detection to business-risk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extreme 0.1% rarity and explain how traditional rule filters cause 95% false positive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five peer-reviewed 2026 papers, highlighting Bhowmick's finding that adversarial evasion dropped accuracy to 71.2%.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our five distinct innovations resolving the gaps identified in recent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examiners through the modular architecture: raw data, zero-leakage prep, ensemble ML, SHAP transparency, BI layer, and deployed microservices.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SAML-D is an institutional-scale dataset of 9.5M rows with 0.104% positives, preserving real banking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how shift-by-1 causal features prevent look-ahead bias and explain why correlation checks confirmed no target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elevated risk in automated cash/cross-border payment channels and the multi-fold risk spike during currency conversion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high-risk jurisdictional transfer corridors and the prevalence of structuring, fan-in, and single-large typologies.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rank normalization for multi-model blending and how Isotonic Regression aligns predictions with empirical risk 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 test results honestly: LightGBM achieves 0.9032 PR-AUC and ensemble achieves 0.6292. At 1.0% review capacity, Recall@K is 93.58%.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SHAP TreeExplainer attributes credit to account velocity and transaction amount, generating top-3 plain-English reasons for SAR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financial bottom line: our cost-optimal threshold reduces total loss from $45.89M to $0.94M, saving $44.95M.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our stress-test results, deployment architecture, and key avenues for future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3A8A"/>
                </a:solidFill>
              </a:defRPr>
            </a:pPr>
            <a:r>
              <a:t>Explainable ML Pipeline for AML Fraud Detection &amp; Business Risk Management</a:t>
            </a:r>
          </a:p>
          <a:p>
            <a:br/>
            <a:pPr>
              <a:defRPr sz="1600" b="1">
                <a:solidFill>
                  <a:srgbClr val="475569"/>
                </a:solidFill>
              </a:defRPr>
            </a:pPr>
            <a:r>
              <a:t>Course: 22MDC56 Machine Learning Laboratory | Academic Year 2025–2026</a:t>
            </a:r>
          </a:p>
          <a:p>
            <a:br/>
            <a:pPr>
              <a:defRPr sz="1400">
                <a:solidFill>
                  <a:srgbClr val="334155"/>
                </a:solidFill>
              </a:defRPr>
            </a:pPr>
            <a:r>
              <a:t>Project Team:</a:t>
            </a:r>
            <a:br/>
            <a:r>
              <a:t>• Sameul D (2403717673721040)</a:t>
            </a:r>
            <a:br/>
            <a:r>
              <a:t>• Mounica K (2403717673722028)</a:t>
            </a:r>
            <a:br/>
            <a:r>
              <a:t>• Naveen raj (2403717673721033)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Real-World AML Crisis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The Operational &amp; Regulatory Dilemma in Modern Banking:</a:t>
            </a:r>
          </a:p>
          <a:p>
            <a:pPr>
              <a:defRPr sz="1400"/>
            </a:pPr>
            <a:r>
              <a:t>• Massive Transaction Velocity: Global institutions handle hundreds of millions of daily transactions, with true illicit transfers &lt; 0.1%.</a:t>
            </a:r>
          </a:p>
          <a:p>
            <a:pPr>
              <a:defRPr sz="1400"/>
            </a:pPr>
            <a:r>
              <a:t>• Severe Alert Fatigue: Traditional static rules generate &gt;95% false alarms, consuming millions in compliance investigator salaries.</a:t>
            </a:r>
          </a:p>
          <a:p>
            <a:pPr>
              <a:defRPr sz="1400"/>
            </a:pPr>
            <a:r>
              <a:t>• Deterministic Evasion: Criminal syndicates structure amounts under fixed thresholds (smurfing, fan-out/fan-in) bypassing legacy filters.</a:t>
            </a:r>
          </a:p>
          <a:p>
            <a:pPr>
              <a:defRPr sz="1400"/>
            </a:pPr>
            <a:r>
              <a:t>• Regulatory Transparency Gap: Regulators mandate explainable audit trails (FATF, EU AMLD) that standard black-box deep models cannot satisfy.</a:t>
            </a:r>
          </a:p>
          <a:p>
            <a:pPr>
              <a:defRPr sz="1400"/>
            </a:pPr>
            <a:r>
              <a:t>• Core Project Objective: Build a zero-leakage, explainable ensemble ML detector with a cost-optimal BI layer that minimizes unrecovered fraud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Comprehensive Literature Survey: Context &amp; 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• [1] Choi Min-Jae (2026): Machine learning in fraud detection and risk governance. Proved standard accuracy is deceptive in class imbalance and recommended PR-AUC; however, stopped short of modeling transaction dollar loss.</a:t>
            </a:r>
          </a:p>
          <a:p>
            <a:pPr>
              <a:defRPr sz="1200"/>
            </a:pPr>
            <a:r>
              <a:t>• [2] S. K. Bhowmick et al. (2026): 12-month core banking deployment using hybrid CNN/LSTM/Autoencoder + RF/GB. Reduced FPR from 32% to 2%, but PGD adversarial attack dropped accuracy to 71.2%, exposing acute evasion vulnerability.</a:t>
            </a:r>
          </a:p>
          <a:p>
            <a:pPr>
              <a:defRPr sz="1200"/>
            </a:pPr>
            <a:r>
              <a:t>• [3] S. Malathy et al. (2026): Multi-layered cybersecurity (SECURE framework) for high-frequency trading achieving 99.8% nominal accuracy; relied on non-temporal splits susceptible to look-ahead leakage.</a:t>
            </a:r>
          </a:p>
          <a:p>
            <a:pPr>
              <a:defRPr sz="1200"/>
            </a:pPr>
            <a:r>
              <a:t>• [4] S. Papastergiou et al. (2026): Integrated CodeBERT with SHAP and NIST 800-53 controls to map risk scores into cyber insurability underwriting premiums, demonstrating explainability as an actionable business driver.</a:t>
            </a:r>
          </a:p>
          <a:p>
            <a:pPr>
              <a:defRPr sz="1200"/>
            </a:pPr>
            <a:r>
              <a:t>• [5] R. Aljaafreh et al. (2026): Systematic review showing only 8.6% of modern ML implementations possess real-time integration with Business Intelligence (BI) layers, confirming a pervasive research void.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Research Gap Analysis &amp; Fundamental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/>
            </a:pPr>
            <a:r>
              <a:t>• Gap 1: Disconnection from Financial Business Losses — Academic models treat a $10 error and a $1,000,000 error identically. Our pipeline integrates an asymmetric cost matrix ($FN = Amount, FP = $50$).</a:t>
            </a:r>
          </a:p>
          <a:p>
            <a:pPr>
              <a:defRPr sz="1300"/>
            </a:pPr>
            <a:r>
              <a:t>• Gap 2: Look-Ahead Temporal Leakage — Standard k-fold splitting contaminates training with future transactions. We enforce strict chronological partitioning ($max(train) &lt; min(val) &lt; min(test)$).</a:t>
            </a:r>
          </a:p>
          <a:p>
            <a:pPr>
              <a:defRPr sz="1300"/>
            </a:pPr>
            <a:r>
              <a:t>• Gap 3: Fragility to Adversarial Structuring — Attackers actively tune transaction features to evade detection. We subject models to black-box evasion tests and implement adversarial defense retraining.</a:t>
            </a:r>
          </a:p>
          <a:p>
            <a:pPr>
              <a:defRPr sz="1300"/>
            </a:pPr>
            <a:r>
              <a:t>• Gap 4: Inactionable Black-Box Outputs — Regulators require legal justifications. We translate local SHAP values into automated top-3 plain-English compliance summaries.</a:t>
            </a:r>
          </a:p>
          <a:p>
            <a:pPr>
              <a:defRPr sz="1300"/>
            </a:pPr>
            <a:r>
              <a:t>• Gap 5: Absence of Real-Time ML-BI Coupling — We deliver an integrated architecture connecting raw streaming ingestion, FastAPI inference, and Streamlit executive simulation.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End-to-End System Architecture &amp; Execution Flow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99669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Dataset: Synthetic Anti-Money-Laundering (SAML-D)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/>
            </a:pPr>
            <a:r>
              <a:t>• Benchmark Scale: 9,504,852 total financial records across 321 calendar days (Oct 2022 to Aug 2023).</a:t>
            </a:r>
          </a:p>
          <a:p>
            <a:pPr>
              <a:defRPr sz="1300"/>
            </a:pPr>
            <a:r>
              <a:t>• Severe Class Rarity: 9,873 confirmed laundering cases (0.104% positive prevalence).</a:t>
            </a:r>
          </a:p>
          <a:p>
            <a:pPr>
              <a:defRPr sz="1300"/>
            </a:pPr>
            <a:r>
              <a:t>• Key Operational Attributes: Time, Date, Sender_account, Receiver_account, Amount, Currencies, Locations, Payment Rails.</a:t>
            </a:r>
          </a:p>
          <a:p>
            <a:pPr>
              <a:defRPr sz="1300"/>
            </a:pPr>
            <a:r>
              <a:t>• Leakage Prevention Rule: 'Laundering_type' specifies illicit typology and is purged from features prior to training.</a:t>
            </a:r>
          </a:p>
          <a:p>
            <a:pPr>
              <a:defRPr sz="1300"/>
            </a:pPr>
            <a:r>
              <a:t>• Account IDs: Excluded from feature vector; leveraged strictly to compute causal behavioral history.</a:t>
            </a:r>
          </a:p>
        </p:txBody>
      </p:sp>
      <p:pic>
        <p:nvPicPr>
          <p:cNvPr id="4" name="Picture 3" descr="01_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Rigorous Preprocessing &amp; Zero-Leakage Precautions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/>
            </a:pPr>
            <a:r>
              <a:t>• Chronological Partitioning: 70% Train (to May 18, 2023), 15% Validation (May 19 to Jul 5, 2023), 15% Untouched Test (Jul 6 to Aug 23, 2023).</a:t>
            </a:r>
          </a:p>
          <a:p>
            <a:pPr>
              <a:defRPr sz="1300"/>
            </a:pPr>
            <a:r>
              <a:t>• Verification Assertion: Automated check confirms max(train) &lt; min(val) &lt; min(test) with zero temporal leakage.</a:t>
            </a:r>
          </a:p>
          <a:p>
            <a:pPr>
              <a:defRPr sz="1300"/>
            </a:pPr>
            <a:r>
              <a:t>• Causal History Engineering (Shift-by-1): All customer transaction features use strictly earlier records only:</a:t>
            </a:r>
          </a:p>
          <a:p>
            <a:pPr>
              <a:defRPr sz="1300"/>
            </a:pPr>
            <a:r>
              <a:t>•    - sender_prior_count: Prior transaction frequency of sender.</a:t>
            </a:r>
          </a:p>
          <a:p>
            <a:pPr>
              <a:defRPr sz="1300"/>
            </a:pPr>
            <a:r>
              <a:t>•    - sender_prior_mean &amp; sender_prior_std: Running historical financial mean and variance.</a:t>
            </a:r>
          </a:p>
          <a:p>
            <a:pPr>
              <a:defRPr sz="1300"/>
            </a:pPr>
            <a:r>
              <a:t>•    - amount_z_score: Dynamic amount deviation relative to customer's personal velocity.</a:t>
            </a:r>
          </a:p>
          <a:p>
            <a:pPr>
              <a:defRPr sz="1300"/>
            </a:pPr>
            <a:r>
              <a:t>•    - time_since_prev_sender_txn: Inter-transaction burst interval.</a:t>
            </a:r>
          </a:p>
          <a:p>
            <a:pPr>
              <a:defRPr sz="1300"/>
            </a:pPr>
            <a:r>
              <a:t>•    - distinct_prior_receivers: Fan-out counterparty proliferation metric.</a:t>
            </a:r>
          </a:p>
          <a:p>
            <a:pPr>
              <a:defRPr sz="1300"/>
            </a:pPr>
            <a:r>
              <a:t>• Encoders &amp; Risk Jurisdictions: Fit strictly on TRAIN data; unseen values mapped to 'unknown'.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Exploratory Data Analysis: Risk Channels &amp; Currencies</a:t>
            </a:r>
          </a:p>
        </p:txBody>
      </p:sp>
      <p:pic>
        <p:nvPicPr>
          <p:cNvPr id="3" name="Picture 2" descr="03_laundering_rate_by_paymen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4" name="Picture 3" descr="08_currency_mismatch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Exploratory Data Analysis: Geography &amp; Typology Signatures</a:t>
            </a:r>
          </a:p>
        </p:txBody>
      </p:sp>
      <p:pic>
        <p:nvPicPr>
          <p:cNvPr id="3" name="Picture 2" descr="12_location_pair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4" name="Picture 3" descr="10_laundering_typ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Model Architecture: Rank-Calibrated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/>
            </a:pPr>
            <a:r>
              <a:t>• Baseline: Balanced Logistic Regression on standardized causal features (Val PR-AUC: 0.0313).</a:t>
            </a:r>
          </a:p>
          <a:p>
            <a:pPr>
              <a:defRPr sz="1200"/>
            </a:pPr>
            <a:r>
              <a:t>• M1 LightGBM: Gradient boosting with scale_pos_weight &amp; early stopping (Val PR-AUC: 0.8883, Test PR-AUC: 0.9032).</a:t>
            </a:r>
          </a:p>
          <a:p>
            <a:pPr>
              <a:defRPr sz="1200"/>
            </a:pPr>
            <a:r>
              <a:t>• M2 Random Forest: Balanced subsampling on 1:10 downsampled training subset (Val PR-AUC: 0.8031).</a:t>
            </a:r>
          </a:p>
          <a:p>
            <a:pPr>
              <a:defRPr sz="1200"/>
            </a:pPr>
            <a:r>
              <a:t>• M3 Isolation Forest: Unsupervised subspace anomaly depth scoring.</a:t>
            </a:r>
          </a:p>
          <a:p>
            <a:pPr>
              <a:defRPr sz="1200"/>
            </a:pPr>
            <a:r>
              <a:t>• M4 Rank-Normalized Ensemble: Converts disparate model scores into empirical percentiles, optimized on validation PR-AUC:</a:t>
            </a:r>
          </a:p>
          <a:p>
            <a:pPr>
              <a:defRPr sz="1200"/>
            </a:pPr>
            <a:r>
              <a:t>•    Weights: 0.80 LGB + 0.15 RF + 0.025 IF + 0.025 LR.</a:t>
            </a:r>
          </a:p>
          <a:p>
            <a:pPr>
              <a:defRPr sz="1200"/>
            </a:pPr>
            <a:r>
              <a:t>• Isotonic Probability Calibration: Calibrates ensemble scores into defensible posterior probabilities.</a:t>
            </a:r>
          </a:p>
        </p:txBody>
      </p:sp>
      <p:pic>
        <p:nvPicPr>
          <p:cNvPr id="4" name="Picture 3" descr="calibr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8463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Results on Untouched TEST Split (PR-AUC: 0.6292)</a:t>
            </a:r>
          </a:p>
        </p:txBody>
      </p:sp>
      <p:pic>
        <p:nvPicPr>
          <p:cNvPr id="3" name="Picture 2" descr="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Explainability: SHAP Attribution &amp; Regulatory Reasons</a:t>
            </a:r>
          </a:p>
        </p:txBody>
      </p:sp>
      <p:pic>
        <p:nvPicPr>
          <p:cNvPr id="3" name="Picture 2" descr="shap_summa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4389120"/>
          </a:xfrm>
          <a:prstGeom prst="rect">
            <a:avLst/>
          </a:prstGeom>
        </p:spPr>
      </p:pic>
      <p:pic>
        <p:nvPicPr>
          <p:cNvPr id="4" name="Picture 3" descr="shap_bees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Business Impact: $44.95M Saved (97.94% Cost Reduction)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EXPLAINABLE AML PIPELINE | 22MDC56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Robustness, Deployment &amp; Future Research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/>
            </a:pPr>
            <a:r>
              <a:t>• Imbalance Robustness: Sustained high ROC-AUC (0.9948) and PR-AUC across extreme negative-to-positive ratio variations (1:1 to 1000:1).</a:t>
            </a:r>
          </a:p>
          <a:p>
            <a:pPr>
              <a:defRPr sz="1300"/>
            </a:pPr>
            <a:r>
              <a:t>• Adversarial Defense: Evasion attacks degraded naive recall, but adversarial retraining recovered detection to 0.9881 with 0.9824 clean PR-AUC.</a:t>
            </a:r>
          </a:p>
          <a:p>
            <a:pPr>
              <a:defRPr sz="1300"/>
            </a:pPr>
            <a:r>
              <a:t>• Production Deployment: Containerized FastAPI (Port 8000) and Streamlit (Port 7860) live microservices compatible with Hugging Face Spaces.</a:t>
            </a:r>
          </a:p>
          <a:p>
            <a:pPr>
              <a:defRPr sz="1300"/>
            </a:pPr>
            <a:r>
              <a:t>• Future Work: (1) Graph Neural Networks for multi-hop layering graphs, (2) Federated Learning across inter-bank consortiums, (3) Real-time Kafka/Flink streaming.</a:t>
            </a:r>
          </a:p>
          <a:p>
            <a:pPr>
              <a:defRPr sz="1300"/>
            </a:pPr>
            <a:r>
              <a:t>• Conclusion: A fully realized, reproducible ML-BI AML system achieving 93.58% Recall@1%, 97.94% cost reduction, and defensible audit explanations.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